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5708" y="2033805"/>
            <a:ext cx="12746271" cy="570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2"/>
              </a:lnSpc>
            </a:pPr>
            <a:r>
              <a:rPr lang="en-US" b="true" sz="135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ETIQUETAS</a:t>
            </a:r>
          </a:p>
          <a:p>
            <a:pPr algn="ctr">
              <a:lnSpc>
                <a:spcPts val="14852"/>
              </a:lnSpc>
            </a:pPr>
            <a:r>
              <a:rPr lang="en-US" b="true" sz="135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SEMANTICAS</a:t>
            </a:r>
          </a:p>
          <a:p>
            <a:pPr algn="ctr">
              <a:lnSpc>
                <a:spcPts val="14852"/>
              </a:lnSpc>
            </a:pPr>
            <a:r>
              <a:rPr lang="en-US" b="true" sz="135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558567" y="7922448"/>
            <a:ext cx="6989044" cy="0"/>
          </a:xfrm>
          <a:prstGeom prst="line">
            <a:avLst/>
          </a:prstGeom>
          <a:ln cap="flat" w="66675">
            <a:gradFill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740388" y="7553825"/>
            <a:ext cx="3981900" cy="737246"/>
            <a:chOff x="0" y="0"/>
            <a:chExt cx="219498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986" cy="406400"/>
            </a:xfrm>
            <a:custGeom>
              <a:avLst/>
              <a:gdLst/>
              <a:ahLst/>
              <a:cxnLst/>
              <a:rect r="r" b="b" t="t" l="l"/>
              <a:pathLst>
                <a:path h="406400" w="2194986">
                  <a:moveTo>
                    <a:pt x="1991786" y="0"/>
                  </a:moveTo>
                  <a:cubicBezTo>
                    <a:pt x="2104010" y="0"/>
                    <a:pt x="2194986" y="90976"/>
                    <a:pt x="2194986" y="203200"/>
                  </a:cubicBezTo>
                  <a:cubicBezTo>
                    <a:pt x="2194986" y="315424"/>
                    <a:pt x="2104010" y="406400"/>
                    <a:pt x="19917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986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12738" y="3062301"/>
            <a:ext cx="1137437" cy="11374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50174" y="4027160"/>
            <a:ext cx="349058" cy="3490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25708" y="3374103"/>
            <a:ext cx="345156" cy="34515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44194" y="3269541"/>
            <a:ext cx="155786" cy="15578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82323" y="7691685"/>
            <a:ext cx="3498031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Raphael Silva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0696" y="7723467"/>
            <a:ext cx="2782031" cy="737246"/>
            <a:chOff x="0" y="0"/>
            <a:chExt cx="153356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3569" cy="406400"/>
            </a:xfrm>
            <a:custGeom>
              <a:avLst/>
              <a:gdLst/>
              <a:ahLst/>
              <a:cxnLst/>
              <a:rect r="r" b="b" t="t" l="l"/>
              <a:pathLst>
                <a:path h="406400" w="1533569">
                  <a:moveTo>
                    <a:pt x="1330369" y="0"/>
                  </a:moveTo>
                  <a:cubicBezTo>
                    <a:pt x="1442593" y="0"/>
                    <a:pt x="1533569" y="90976"/>
                    <a:pt x="1533569" y="203200"/>
                  </a:cubicBezTo>
                  <a:cubicBezTo>
                    <a:pt x="1533569" y="315424"/>
                    <a:pt x="1442593" y="406400"/>
                    <a:pt x="13303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33569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52828" y="2407982"/>
            <a:ext cx="5206472" cy="6850318"/>
            <a:chOff x="0" y="0"/>
            <a:chExt cx="6941963" cy="9133757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11998" t="0" r="11998" b="0"/>
            <a:stretch>
              <a:fillRect/>
            </a:stretch>
          </p:blipFill>
          <p:spPr>
            <a:xfrm flipH="false" flipV="false">
              <a:off x="0" y="0"/>
              <a:ext cx="6941963" cy="9133757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696" y="2728948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SON?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696" y="6477384"/>
            <a:ext cx="791703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En otras palabras, describen claramente qué tipo de contenido contienen.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9444" y="4312456"/>
            <a:ext cx="8871816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Los elementos semánticos son etiquetas HTML que tienen un significado claro tanto para el navegador como para el desarrollador.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94617"/>
            <a:ext cx="5360060" cy="6850318"/>
            <a:chOff x="0" y="0"/>
            <a:chExt cx="7146747" cy="91337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8294" t="0" r="28294" b="0"/>
            <a:stretch>
              <a:fillRect/>
            </a:stretch>
          </p:blipFill>
          <p:spPr>
            <a:xfrm flipH="false" flipV="false">
              <a:off x="0" y="0"/>
              <a:ext cx="7146747" cy="9133757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7885238" y="1544562"/>
            <a:ext cx="9891382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¿Por qué surgieron?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28357" y="1713662"/>
            <a:ext cx="223236" cy="2232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1593" y="3122800"/>
            <a:ext cx="9792199" cy="487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Ant</a:t>
            </a: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 de HTML5, muchos sitios web usaban estructuras como: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&lt;div id="nav"&gt;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&lt;div class="header"&gt;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&lt;div id="footer"&gt;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Esto funcionaba visualmente, pero no indicaba el significado del contenido.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 HTML5 se introdujeron nuevas etiquetas semánticas para estructurar mejor las páginas web.</a:t>
            </a:r>
          </a:p>
          <a:p>
            <a:pPr algn="l" marL="0" indent="0" lvl="0">
              <a:lnSpc>
                <a:spcPts val="49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39693"/>
            <a:ext cx="5663211" cy="7632827"/>
            <a:chOff x="0" y="0"/>
            <a:chExt cx="7550949" cy="1017710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9088" t="0" r="9088" b="0"/>
            <a:stretch>
              <a:fillRect/>
            </a:stretch>
          </p:blipFill>
          <p:spPr>
            <a:xfrm flipH="false" flipV="false">
              <a:off x="0" y="0"/>
              <a:ext cx="7550949" cy="10177103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9954773" y="3319923"/>
            <a:ext cx="4865968" cy="6714969"/>
            <a:chOff x="0" y="0"/>
            <a:chExt cx="1281572" cy="17685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572" cy="1768552"/>
            </a:xfrm>
            <a:custGeom>
              <a:avLst/>
              <a:gdLst/>
              <a:ahLst/>
              <a:cxnLst/>
              <a:rect r="r" b="b" t="t" l="l"/>
              <a:pathLst>
                <a:path h="1768552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736731"/>
                  </a:lnTo>
                  <a:cubicBezTo>
                    <a:pt x="1281572" y="1745170"/>
                    <a:pt x="1278219" y="1753264"/>
                    <a:pt x="1272252" y="1759232"/>
                  </a:cubicBezTo>
                  <a:cubicBezTo>
                    <a:pt x="1266284" y="1765199"/>
                    <a:pt x="1258191" y="1768552"/>
                    <a:pt x="1249751" y="1768552"/>
                  </a:cubicBezTo>
                  <a:lnTo>
                    <a:pt x="31821" y="1768552"/>
                  </a:lnTo>
                  <a:cubicBezTo>
                    <a:pt x="23381" y="1768552"/>
                    <a:pt x="15288" y="1765199"/>
                    <a:pt x="9320" y="1759232"/>
                  </a:cubicBezTo>
                  <a:cubicBezTo>
                    <a:pt x="3353" y="1753264"/>
                    <a:pt x="0" y="1745170"/>
                    <a:pt x="0" y="1736731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81572" cy="1797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83700" y="1325788"/>
            <a:ext cx="223236" cy="2232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684564" y="5959748"/>
            <a:ext cx="345156" cy="3451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76901" y="1903611"/>
            <a:ext cx="10919570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Etiquetas Semánticas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53100" y="3608770"/>
            <a:ext cx="3795692" cy="603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&lt;a</a:t>
            </a: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rticle&gt;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&lt;aside&gt;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&lt;details&gt;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&lt;figcaption&gt;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&lt;figure&gt;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&lt;footer&gt;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&lt;header&gt;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&lt;main&gt;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&lt;mark&gt;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&lt;nav&gt;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&lt;section&gt;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&lt;summary&gt;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&lt;time&gt;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4233226"/>
            <a:ext cx="4865968" cy="5336281"/>
            <a:chOff x="0" y="0"/>
            <a:chExt cx="1281572" cy="1405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405440"/>
            </a:xfrm>
            <a:custGeom>
              <a:avLst/>
              <a:gdLst/>
              <a:ahLst/>
              <a:cxnLst/>
              <a:rect r="r" b="b" t="t" l="l"/>
              <a:pathLst>
                <a:path h="140544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3620"/>
                  </a:lnTo>
                  <a:cubicBezTo>
                    <a:pt x="1281572" y="1382059"/>
                    <a:pt x="1278219" y="1390153"/>
                    <a:pt x="1272252" y="1396120"/>
                  </a:cubicBezTo>
                  <a:cubicBezTo>
                    <a:pt x="1266284" y="1402088"/>
                    <a:pt x="1258191" y="1405440"/>
                    <a:pt x="1249751" y="1405440"/>
                  </a:cubicBezTo>
                  <a:lnTo>
                    <a:pt x="31821" y="1405440"/>
                  </a:lnTo>
                  <a:cubicBezTo>
                    <a:pt x="23381" y="1405440"/>
                    <a:pt x="15288" y="1402088"/>
                    <a:pt x="9320" y="1396120"/>
                  </a:cubicBezTo>
                  <a:cubicBezTo>
                    <a:pt x="3353" y="1390153"/>
                    <a:pt x="0" y="1382059"/>
                    <a:pt x="0" y="1373620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43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855" y="1574141"/>
            <a:ext cx="1260010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ORGANIZACIÓN DE CONTENIDO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4638" y="4233226"/>
            <a:ext cx="4865968" cy="5336281"/>
            <a:chOff x="0" y="0"/>
            <a:chExt cx="1281572" cy="1405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572" cy="1405440"/>
            </a:xfrm>
            <a:custGeom>
              <a:avLst/>
              <a:gdLst/>
              <a:ahLst/>
              <a:cxnLst/>
              <a:rect r="r" b="b" t="t" l="l"/>
              <a:pathLst>
                <a:path h="140544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3620"/>
                  </a:lnTo>
                  <a:cubicBezTo>
                    <a:pt x="1281572" y="1382059"/>
                    <a:pt x="1278219" y="1390153"/>
                    <a:pt x="1272252" y="1396120"/>
                  </a:cubicBezTo>
                  <a:cubicBezTo>
                    <a:pt x="1266284" y="1402088"/>
                    <a:pt x="1258191" y="1405440"/>
                    <a:pt x="1249751" y="1405440"/>
                  </a:cubicBezTo>
                  <a:lnTo>
                    <a:pt x="31821" y="1405440"/>
                  </a:lnTo>
                  <a:cubicBezTo>
                    <a:pt x="23381" y="1405440"/>
                    <a:pt x="15288" y="1402088"/>
                    <a:pt x="9320" y="1396120"/>
                  </a:cubicBezTo>
                  <a:cubicBezTo>
                    <a:pt x="3353" y="1390153"/>
                    <a:pt x="0" y="1382059"/>
                    <a:pt x="0" y="1373620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1572" cy="143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86832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&lt;section&gt;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2532" y="4876857"/>
            <a:ext cx="3795692" cy="46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section&gt;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&lt;h1&gt;Introducción&lt;/h1&gt;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&lt;p&gt;Contenido introductorio...&lt;/p&gt;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&lt;/section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Una sección es una agrupación temática de contenido, generalmente con un encabezado.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489776" y="4441565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&lt;article&gt;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9776" y="5038725"/>
            <a:ext cx="3795692" cy="340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rticle&gt;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&lt;h2&gt;Google Chrome&lt;/h2&gt;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&lt;p&gt;Es un navegador web desarrollado por Google...&lt;/p&gt;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&lt;/article&gt;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contenido independiente y autocontenido.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11016" y="4233226"/>
            <a:ext cx="4865968" cy="5336281"/>
            <a:chOff x="0" y="0"/>
            <a:chExt cx="1281572" cy="1405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572" cy="1405440"/>
            </a:xfrm>
            <a:custGeom>
              <a:avLst/>
              <a:gdLst/>
              <a:ahLst/>
              <a:cxnLst/>
              <a:rect r="r" b="b" t="t" l="l"/>
              <a:pathLst>
                <a:path h="140544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3620"/>
                  </a:lnTo>
                  <a:cubicBezTo>
                    <a:pt x="1281572" y="1382059"/>
                    <a:pt x="1278219" y="1390153"/>
                    <a:pt x="1272252" y="1396120"/>
                  </a:cubicBezTo>
                  <a:cubicBezTo>
                    <a:pt x="1266284" y="1402088"/>
                    <a:pt x="1258191" y="1405440"/>
                    <a:pt x="1249751" y="1405440"/>
                  </a:cubicBezTo>
                  <a:lnTo>
                    <a:pt x="31821" y="1405440"/>
                  </a:lnTo>
                  <a:cubicBezTo>
                    <a:pt x="23381" y="1405440"/>
                    <a:pt x="15288" y="1402088"/>
                    <a:pt x="9320" y="1396120"/>
                  </a:cubicBezTo>
                  <a:cubicBezTo>
                    <a:pt x="3353" y="1390153"/>
                    <a:pt x="0" y="1382059"/>
                    <a:pt x="0" y="1373620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1572" cy="143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430455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&lt;time&gt;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55508" y="4876857"/>
            <a:ext cx="4376984" cy="426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&lt;p&gt;El evento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será el 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&lt;time datetime="2026-03-20"&gt;20 de marzo de 2026&lt;/time&gt;.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&lt;p&gt;La reunión inicia a las 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&lt;time datetime="2026-03-20T18:00"&gt;6:00 PM&lt;/time&gt;.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una fecha u hora específica.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4233226"/>
            <a:ext cx="4865968" cy="5025074"/>
            <a:chOff x="0" y="0"/>
            <a:chExt cx="1281572" cy="1323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323476"/>
            </a:xfrm>
            <a:custGeom>
              <a:avLst/>
              <a:gdLst/>
              <a:ahLst/>
              <a:cxnLst/>
              <a:rect r="r" b="b" t="t" l="l"/>
              <a:pathLst>
                <a:path h="132347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291656"/>
                  </a:lnTo>
                  <a:cubicBezTo>
                    <a:pt x="1281572" y="1300095"/>
                    <a:pt x="1278219" y="1308189"/>
                    <a:pt x="1272252" y="1314156"/>
                  </a:cubicBezTo>
                  <a:cubicBezTo>
                    <a:pt x="1266284" y="1320124"/>
                    <a:pt x="1258191" y="1323476"/>
                    <a:pt x="1249751" y="1323476"/>
                  </a:cubicBezTo>
                  <a:lnTo>
                    <a:pt x="31821" y="1323476"/>
                  </a:lnTo>
                  <a:cubicBezTo>
                    <a:pt x="23381" y="1323476"/>
                    <a:pt x="15288" y="1320124"/>
                    <a:pt x="9320" y="1314156"/>
                  </a:cubicBezTo>
                  <a:cubicBezTo>
                    <a:pt x="3353" y="1308189"/>
                    <a:pt x="0" y="1300095"/>
                    <a:pt x="0" y="129165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35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855" y="1574141"/>
            <a:ext cx="1260010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GENERAL</a:t>
            </a:r>
          </a:p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LAYOUT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4638" y="4233226"/>
            <a:ext cx="4865968" cy="5025074"/>
            <a:chOff x="0" y="0"/>
            <a:chExt cx="1281572" cy="1323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572" cy="1323476"/>
            </a:xfrm>
            <a:custGeom>
              <a:avLst/>
              <a:gdLst/>
              <a:ahLst/>
              <a:cxnLst/>
              <a:rect r="r" b="b" t="t" l="l"/>
              <a:pathLst>
                <a:path h="132347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291656"/>
                  </a:lnTo>
                  <a:cubicBezTo>
                    <a:pt x="1281572" y="1300095"/>
                    <a:pt x="1278219" y="1308189"/>
                    <a:pt x="1272252" y="1314156"/>
                  </a:cubicBezTo>
                  <a:cubicBezTo>
                    <a:pt x="1266284" y="1320124"/>
                    <a:pt x="1258191" y="1323476"/>
                    <a:pt x="1249751" y="1323476"/>
                  </a:cubicBezTo>
                  <a:lnTo>
                    <a:pt x="31821" y="1323476"/>
                  </a:lnTo>
                  <a:cubicBezTo>
                    <a:pt x="23381" y="1323476"/>
                    <a:pt x="15288" y="1320124"/>
                    <a:pt x="9320" y="1314156"/>
                  </a:cubicBezTo>
                  <a:cubicBezTo>
                    <a:pt x="3353" y="1308189"/>
                    <a:pt x="0" y="1300095"/>
                    <a:pt x="0" y="129165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1572" cy="135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86832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&lt;header&gt;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2532" y="5131745"/>
            <a:ext cx="3795692" cy="426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&lt;ar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ticle&gt;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&lt;header&gt;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&lt;h1&gt;Título del artículo&lt;/h1&gt;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&lt;/header&gt;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&lt;/article&gt;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Representa contenido introductorio o enlaces de navegación.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489776" y="4441565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&lt;footer&gt;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9776" y="5038725"/>
            <a:ext cx="3795692" cy="29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&lt;footer&gt;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&lt;p&gt;Autor: Juan Pérez&lt;/p&gt;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&lt;/footer&gt;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el pie de página de un documento o sección..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33362" y="4323771"/>
            <a:ext cx="4865968" cy="2346962"/>
            <a:chOff x="0" y="0"/>
            <a:chExt cx="1281572" cy="6181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868500" y="4459288"/>
            <a:ext cx="3795692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"No puede estar dentro de: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&lt;footer&gt;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&lt;address&gt;</a:t>
            </a:r>
          </a:p>
          <a:p>
            <a:pPr algn="ctr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Otro &lt;header&gt;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7088670" y="6911338"/>
            <a:ext cx="4865968" cy="2346962"/>
            <a:chOff x="0" y="0"/>
            <a:chExt cx="1281572" cy="6181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189568" y="7132637"/>
            <a:ext cx="266417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Puede contener: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Autor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Derechos de autor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Contacto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Enlaces relacionados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4233226"/>
            <a:ext cx="4865968" cy="5025074"/>
            <a:chOff x="0" y="0"/>
            <a:chExt cx="1281572" cy="1323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323476"/>
            </a:xfrm>
            <a:custGeom>
              <a:avLst/>
              <a:gdLst/>
              <a:ahLst/>
              <a:cxnLst/>
              <a:rect r="r" b="b" t="t" l="l"/>
              <a:pathLst>
                <a:path h="132347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291656"/>
                  </a:lnTo>
                  <a:cubicBezTo>
                    <a:pt x="1281572" y="1300095"/>
                    <a:pt x="1278219" y="1308189"/>
                    <a:pt x="1272252" y="1314156"/>
                  </a:cubicBezTo>
                  <a:cubicBezTo>
                    <a:pt x="1266284" y="1320124"/>
                    <a:pt x="1258191" y="1323476"/>
                    <a:pt x="1249751" y="1323476"/>
                  </a:cubicBezTo>
                  <a:lnTo>
                    <a:pt x="31821" y="1323476"/>
                  </a:lnTo>
                  <a:cubicBezTo>
                    <a:pt x="23381" y="1323476"/>
                    <a:pt x="15288" y="1320124"/>
                    <a:pt x="9320" y="1314156"/>
                  </a:cubicBezTo>
                  <a:cubicBezTo>
                    <a:pt x="3353" y="1308189"/>
                    <a:pt x="0" y="1300095"/>
                    <a:pt x="0" y="129165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35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954638" y="4233226"/>
            <a:ext cx="4865968" cy="5025074"/>
            <a:chOff x="0" y="0"/>
            <a:chExt cx="1281572" cy="1323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572" cy="1323476"/>
            </a:xfrm>
            <a:custGeom>
              <a:avLst/>
              <a:gdLst/>
              <a:ahLst/>
              <a:cxnLst/>
              <a:rect r="r" b="b" t="t" l="l"/>
              <a:pathLst>
                <a:path h="132347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291656"/>
                  </a:lnTo>
                  <a:cubicBezTo>
                    <a:pt x="1281572" y="1300095"/>
                    <a:pt x="1278219" y="1308189"/>
                    <a:pt x="1272252" y="1314156"/>
                  </a:cubicBezTo>
                  <a:cubicBezTo>
                    <a:pt x="1266284" y="1320124"/>
                    <a:pt x="1258191" y="1323476"/>
                    <a:pt x="1249751" y="1323476"/>
                  </a:cubicBezTo>
                  <a:lnTo>
                    <a:pt x="31821" y="1323476"/>
                  </a:lnTo>
                  <a:cubicBezTo>
                    <a:pt x="23381" y="1323476"/>
                    <a:pt x="15288" y="1320124"/>
                    <a:pt x="9320" y="1314156"/>
                  </a:cubicBezTo>
                  <a:cubicBezTo>
                    <a:pt x="3353" y="1308189"/>
                    <a:pt x="0" y="1300095"/>
                    <a:pt x="0" y="129165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81572" cy="135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86832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&lt;nav&gt;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2532" y="4967287"/>
            <a:ext cx="3795692" cy="442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&lt;nav</a:t>
            </a: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&gt;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&lt;a href="#"&gt;HTML&lt;/a&gt; |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&lt;a href="#"&gt;CSS&lt;/a&gt; |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&lt;a href="#"&gt;JavaScript&lt;/a&gt;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&lt;/nav&gt;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un bloque principal de enlaces de navegación.</a:t>
            </a:r>
          </a:p>
          <a:p>
            <a:pPr algn="ctr" marL="0" indent="0" lvl="0">
              <a:lnSpc>
                <a:spcPts val="390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489776" y="4441565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&lt;aside&gt;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89776" y="5038725"/>
            <a:ext cx="3795692" cy="416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&lt;aside&gt;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&lt;h4&gt;Dato interesante&lt;/h4&gt;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&lt;p&gt;Información adicional...&lt;/p&gt;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&lt;/aside&gt;</a:t>
            </a: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contenido relacionado pero secundario (como una barra lateral).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639855" y="1574141"/>
            <a:ext cx="1260010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GENERAL</a:t>
            </a:r>
          </a:p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LAYOUT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11016" y="4233226"/>
            <a:ext cx="4865968" cy="5336281"/>
            <a:chOff x="0" y="0"/>
            <a:chExt cx="1281572" cy="1405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572" cy="1405440"/>
            </a:xfrm>
            <a:custGeom>
              <a:avLst/>
              <a:gdLst/>
              <a:ahLst/>
              <a:cxnLst/>
              <a:rect r="r" b="b" t="t" l="l"/>
              <a:pathLst>
                <a:path h="140544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3620"/>
                  </a:lnTo>
                  <a:cubicBezTo>
                    <a:pt x="1281572" y="1382059"/>
                    <a:pt x="1278219" y="1390153"/>
                    <a:pt x="1272252" y="1396120"/>
                  </a:cubicBezTo>
                  <a:cubicBezTo>
                    <a:pt x="1266284" y="1402088"/>
                    <a:pt x="1258191" y="1405440"/>
                    <a:pt x="1249751" y="1405440"/>
                  </a:cubicBezTo>
                  <a:lnTo>
                    <a:pt x="31821" y="1405440"/>
                  </a:lnTo>
                  <a:cubicBezTo>
                    <a:pt x="23381" y="1405440"/>
                    <a:pt x="15288" y="1402088"/>
                    <a:pt x="9320" y="1396120"/>
                  </a:cubicBezTo>
                  <a:cubicBezTo>
                    <a:pt x="3353" y="1390153"/>
                    <a:pt x="0" y="1382059"/>
                    <a:pt x="0" y="1373620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1572" cy="143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430455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&lt;main&gt;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46154" y="4986337"/>
            <a:ext cx="3795692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1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&lt;main&gt;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&lt;h1&gt;Contenido Principal&lt;/h1&gt;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&lt;p&gt;Esta es la información más importante de la página.&lt;/p&gt;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&lt;/main&gt;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Especifica el contenido principal del documento.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4233226"/>
            <a:ext cx="4865968" cy="5159218"/>
            <a:chOff x="0" y="0"/>
            <a:chExt cx="1281572" cy="1358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358806"/>
            </a:xfrm>
            <a:custGeom>
              <a:avLst/>
              <a:gdLst/>
              <a:ahLst/>
              <a:cxnLst/>
              <a:rect r="r" b="b" t="t" l="l"/>
              <a:pathLst>
                <a:path h="135880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26986"/>
                  </a:lnTo>
                  <a:cubicBezTo>
                    <a:pt x="1281572" y="1344560"/>
                    <a:pt x="1267325" y="1358806"/>
                    <a:pt x="1249751" y="1358806"/>
                  </a:cubicBezTo>
                  <a:lnTo>
                    <a:pt x="31821" y="1358806"/>
                  </a:lnTo>
                  <a:cubicBezTo>
                    <a:pt x="23381" y="1358806"/>
                    <a:pt x="15288" y="1355454"/>
                    <a:pt x="9320" y="1349486"/>
                  </a:cubicBezTo>
                  <a:cubicBezTo>
                    <a:pt x="3353" y="1343519"/>
                    <a:pt x="0" y="1335425"/>
                    <a:pt x="0" y="132698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1572" cy="1396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855" y="1574141"/>
            <a:ext cx="1260010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4638" y="4233226"/>
            <a:ext cx="4865968" cy="5025074"/>
            <a:chOff x="0" y="0"/>
            <a:chExt cx="1281572" cy="1323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572" cy="1323476"/>
            </a:xfrm>
            <a:custGeom>
              <a:avLst/>
              <a:gdLst/>
              <a:ahLst/>
              <a:cxnLst/>
              <a:rect r="r" b="b" t="t" l="l"/>
              <a:pathLst>
                <a:path h="132347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291656"/>
                  </a:lnTo>
                  <a:cubicBezTo>
                    <a:pt x="1281572" y="1300095"/>
                    <a:pt x="1278219" y="1308189"/>
                    <a:pt x="1272252" y="1314156"/>
                  </a:cubicBezTo>
                  <a:cubicBezTo>
                    <a:pt x="1266284" y="1320124"/>
                    <a:pt x="1258191" y="1323476"/>
                    <a:pt x="1249751" y="1323476"/>
                  </a:cubicBezTo>
                  <a:lnTo>
                    <a:pt x="31821" y="1323476"/>
                  </a:lnTo>
                  <a:cubicBezTo>
                    <a:pt x="23381" y="1323476"/>
                    <a:pt x="15288" y="1320124"/>
                    <a:pt x="9320" y="1314156"/>
                  </a:cubicBezTo>
                  <a:cubicBezTo>
                    <a:pt x="3353" y="1308189"/>
                    <a:pt x="0" y="1300095"/>
                    <a:pt x="0" y="129165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1572" cy="135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86832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&lt;figure&gt;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7394" y="4948237"/>
            <a:ext cx="4867706" cy="383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25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&lt;figure</a:t>
            </a:r>
            <a:r>
              <a:rPr lang="en-US" sz="25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&gt;</a:t>
            </a:r>
          </a:p>
          <a:p>
            <a:pPr algn="ctr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&lt;img src="imagen.jpg" alt="Ejemplo"&gt;</a:t>
            </a:r>
          </a:p>
          <a:p>
            <a:pPr algn="ctr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&lt;/figure&gt;</a:t>
            </a:r>
          </a:p>
          <a:p>
            <a:pPr algn="ctr" marL="0" indent="0" lvl="0">
              <a:lnSpc>
                <a:spcPts val="44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El marco de un cuadro. Agrupa la imagen o gráfico.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89776" y="4441565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&lt;figcaption&gt;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4638" y="5029200"/>
            <a:ext cx="4865968" cy="34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&lt;figcaption&gt;</a:t>
            </a:r>
          </a:p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3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3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igura 1 - Descripción de la imagen</a:t>
            </a:r>
          </a:p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&lt;/figcaption&gt;</a:t>
            </a:r>
          </a:p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La plaquita de metal debajo del cuadro que explica qué estamos viendo.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11016" y="4258137"/>
            <a:ext cx="4865968" cy="2346962"/>
            <a:chOff x="0" y="0"/>
            <a:chExt cx="1281572" cy="6181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247023" y="4318781"/>
            <a:ext cx="3795692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Imágenes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Diagramas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Ilustraciones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4233226"/>
            <a:ext cx="4865968" cy="5159218"/>
            <a:chOff x="0" y="0"/>
            <a:chExt cx="1281572" cy="1358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358806"/>
            </a:xfrm>
            <a:custGeom>
              <a:avLst/>
              <a:gdLst/>
              <a:ahLst/>
              <a:cxnLst/>
              <a:rect r="r" b="b" t="t" l="l"/>
              <a:pathLst>
                <a:path h="135880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26986"/>
                  </a:lnTo>
                  <a:cubicBezTo>
                    <a:pt x="1281572" y="1344560"/>
                    <a:pt x="1267325" y="1358806"/>
                    <a:pt x="1249751" y="1358806"/>
                  </a:cubicBezTo>
                  <a:lnTo>
                    <a:pt x="31821" y="1358806"/>
                  </a:lnTo>
                  <a:cubicBezTo>
                    <a:pt x="23381" y="1358806"/>
                    <a:pt x="15288" y="1355454"/>
                    <a:pt x="9320" y="1349486"/>
                  </a:cubicBezTo>
                  <a:cubicBezTo>
                    <a:pt x="3353" y="1343519"/>
                    <a:pt x="0" y="1335425"/>
                    <a:pt x="0" y="132698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387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855" y="1574141"/>
            <a:ext cx="1260010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954638" y="4233226"/>
            <a:ext cx="4865968" cy="5450376"/>
            <a:chOff x="0" y="0"/>
            <a:chExt cx="1281572" cy="143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572" cy="1435490"/>
            </a:xfrm>
            <a:custGeom>
              <a:avLst/>
              <a:gdLst/>
              <a:ahLst/>
              <a:cxnLst/>
              <a:rect r="r" b="b" t="t" l="l"/>
              <a:pathLst>
                <a:path h="143549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403669"/>
                  </a:lnTo>
                  <a:cubicBezTo>
                    <a:pt x="1281572" y="1412109"/>
                    <a:pt x="1278219" y="1420202"/>
                    <a:pt x="1272252" y="1426170"/>
                  </a:cubicBezTo>
                  <a:cubicBezTo>
                    <a:pt x="1266284" y="1432138"/>
                    <a:pt x="1258191" y="1435490"/>
                    <a:pt x="1249751" y="1435490"/>
                  </a:cubicBezTo>
                  <a:lnTo>
                    <a:pt x="31821" y="1435490"/>
                  </a:lnTo>
                  <a:cubicBezTo>
                    <a:pt x="23381" y="1435490"/>
                    <a:pt x="15288" y="1432138"/>
                    <a:pt x="9320" y="1426170"/>
                  </a:cubicBezTo>
                  <a:cubicBezTo>
                    <a:pt x="3353" y="1420202"/>
                    <a:pt x="0" y="1412109"/>
                    <a:pt x="0" y="140366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1572" cy="146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86832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&lt;mark&gt;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7394" y="5418613"/>
            <a:ext cx="4867706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&lt;p&gt;El lenguaje</a:t>
            </a:r>
            <a:r>
              <a:rPr lang="en-US" sz="23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&lt;mark&gt;HTML5&lt;/mark&gt; introdujo elementos semánticos importantes.&lt;/p&gt;</a:t>
            </a:r>
          </a:p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texto resaltado o destacado dentro de un contexto.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89776" y="4441565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&lt;details&gt;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54415" y="5048250"/>
            <a:ext cx="4376984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1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&lt;details&gt;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&lt;summary&gt;¿Qué es HTML?&lt;/summary&gt;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&lt;p&gt;HTML es el lenguaje estándar para crear páginas web.&lt;/p&gt;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&lt;/details&gt;</a:t>
            </a: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información adicional que el usuario puede mostrar u ocultar.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33362" y="4323771"/>
            <a:ext cx="4865968" cy="2346962"/>
            <a:chOff x="0" y="0"/>
            <a:chExt cx="1281572" cy="6181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868500" y="4484199"/>
            <a:ext cx="3795692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Resaltar palabras clave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Destacar resultados de búsqueda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Señalar información relevante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7088670" y="6911338"/>
            <a:ext cx="4865968" cy="2346962"/>
            <a:chOff x="0" y="0"/>
            <a:chExt cx="1281572" cy="6181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514592" y="6971982"/>
            <a:ext cx="3795692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Preguntas frecuentes (FAQ)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Información adicional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Explicaciones extendidas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Contenido opcional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27198" y="4233226"/>
            <a:ext cx="4865968" cy="5159218"/>
            <a:chOff x="0" y="0"/>
            <a:chExt cx="1281572" cy="1358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358806"/>
            </a:xfrm>
            <a:custGeom>
              <a:avLst/>
              <a:gdLst/>
              <a:ahLst/>
              <a:cxnLst/>
              <a:rect r="r" b="b" t="t" l="l"/>
              <a:pathLst>
                <a:path h="135880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26986"/>
                  </a:lnTo>
                  <a:cubicBezTo>
                    <a:pt x="1281572" y="1344560"/>
                    <a:pt x="1267325" y="1358806"/>
                    <a:pt x="1249751" y="1358806"/>
                  </a:cubicBezTo>
                  <a:lnTo>
                    <a:pt x="31821" y="1358806"/>
                  </a:lnTo>
                  <a:cubicBezTo>
                    <a:pt x="23381" y="1358806"/>
                    <a:pt x="15288" y="1355454"/>
                    <a:pt x="9320" y="1349486"/>
                  </a:cubicBezTo>
                  <a:cubicBezTo>
                    <a:pt x="3353" y="1343519"/>
                    <a:pt x="0" y="1335425"/>
                    <a:pt x="0" y="1326986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387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7757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8792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9828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855" y="1574141"/>
            <a:ext cx="126001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 VISUAL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6637" y="4441565"/>
            <a:ext cx="34270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&lt;summary&gt;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7198" y="5106669"/>
            <a:ext cx="4867706" cy="3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&lt;details&gt;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&lt;summary&gt;Ver más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información&lt;/summary&gt;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&lt;p&gt;Aquí aparece el contenido adicional.&lt;/p&gt;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&lt;/details&gt;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define un encabezado visible para el elemento &lt;details&gt;.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39855" y="2835316"/>
            <a:ext cx="243672" cy="2436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933011" y="2713480"/>
            <a:ext cx="243672" cy="24367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119014" y="2415342"/>
            <a:ext cx="408184" cy="4081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304554" y="2427324"/>
            <a:ext cx="408184" cy="40818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97592" y="4233226"/>
            <a:ext cx="4865968" cy="2346962"/>
            <a:chOff x="0" y="0"/>
            <a:chExt cx="1281572" cy="6181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572" cy="618130"/>
            </a:xfrm>
            <a:custGeom>
              <a:avLst/>
              <a:gdLst/>
              <a:ahLst/>
              <a:cxnLst/>
              <a:rect r="r" b="b" t="t" l="l"/>
              <a:pathLst>
                <a:path h="618130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586309"/>
                  </a:lnTo>
                  <a:cubicBezTo>
                    <a:pt x="1281572" y="603883"/>
                    <a:pt x="1267325" y="618130"/>
                    <a:pt x="1249751" y="618130"/>
                  </a:cubicBezTo>
                  <a:lnTo>
                    <a:pt x="31821" y="618130"/>
                  </a:lnTo>
                  <a:cubicBezTo>
                    <a:pt x="23381" y="618130"/>
                    <a:pt x="15288" y="614777"/>
                    <a:pt x="9320" y="608810"/>
                  </a:cubicBezTo>
                  <a:cubicBezTo>
                    <a:pt x="3353" y="602842"/>
                    <a:pt x="0" y="594748"/>
                    <a:pt x="0" y="586309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281572" cy="64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732730" y="4527232"/>
            <a:ext cx="3795692" cy="25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Debe ser el primer hijo dentro de &lt;details&gt;.</a:t>
            </a:r>
          </a:p>
          <a:p>
            <a:pPr algn="ctr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Funcion</a:t>
            </a: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 como título interactivo.</a:t>
            </a:r>
          </a:p>
          <a:p>
            <a:pPr algn="ctr">
              <a:lnSpc>
                <a:spcPts val="3400"/>
              </a:lnSpc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DAHCjWaFpns</dc:identifier>
  <dcterms:modified xsi:type="dcterms:W3CDTF">2011-08-01T06:04:30Z</dcterms:modified>
  <cp:revision>1</cp:revision>
  <dc:title>SEMANTICA HTML</dc:title>
</cp:coreProperties>
</file>